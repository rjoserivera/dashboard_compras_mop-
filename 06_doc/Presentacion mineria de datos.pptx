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3774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Tahoma"/>
              </a:rPr>
              <a:t>ANÁLISIS DE COMPRAS MOP Y MINVU/SERVIU
EN MERCADO PÚBLICO, 2018–2019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D246D8B-E6B5-3B88-1F10-650C037E6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109728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KPIs EJECUTIVOS · 3.1.5.I.1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Unidad de análisis: OC por modalidad, servicio, región y año · 2018-2019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Criterio 3.1.5.I.1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2286000" cy="15544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.166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Monto Total Transado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2286000" cy="15544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93.207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Órdenes de Compra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80160"/>
            <a:ext cx="2286000" cy="15544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6.010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Proveedores Únicos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280160"/>
            <a:ext cx="2286000" cy="15544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17,2%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Cobertura del Gasto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1280160"/>
            <a:ext cx="2286000" cy="155448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141732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Tahoma"/>
              </a:rPr>
              <a:t>28,7%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Via Trato Directo</a:t>
            </a:r>
          </a:p>
        </p:txBody>
      </p:sp>
      <p:pic>
        <p:nvPicPr>
          <p:cNvPr id="23" name="Picture 22" descr="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71800"/>
            <a:ext cx="9144000" cy="3395458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D6E0F24-8361-064F-28DD-592E383F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873" y="-5862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FUENTES DE DATOS Y PIPELINE · 3.1.5.I.2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Reproducibilidad completa: 3 scripts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4572000" cy="11887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0000"/>
                </a:solidFill>
                <a:latin typeface="Tahoma"/>
              </a:rPr>
              <a:t>01_unificar_chilecompra.py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Lee CSVs crudos MercadoPublico.cl → CSV unificado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Tahom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554480"/>
            <a:ext cx="6217920" cy="822960"/>
          </a:xfrm>
          <a:prstGeom prst="rect">
            <a:avLst/>
          </a:prstGeom>
          <a:solidFill>
            <a:srgbClr val="0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16916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CCFF"/>
                </a:solidFill>
                <a:latin typeface="Tahoma"/>
              </a:rPr>
              <a:t>01_datos/procesados/compras_presupuesto_items.csv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4572000" cy="11887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0000"/>
                </a:solidFill>
                <a:latin typeface="Tahoma"/>
              </a:rPr>
              <a:t>02_unir_compras_presupuesto.py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83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Cruza OC con Excel MOP por código BIP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Tahoma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3017520"/>
            <a:ext cx="6217920" cy="822960"/>
          </a:xfrm>
          <a:prstGeom prst="rect">
            <a:avLst/>
          </a:prstGeom>
          <a:solidFill>
            <a:srgbClr val="0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31546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CCFF"/>
                </a:solidFill>
                <a:latin typeface="Tahoma"/>
              </a:rPr>
              <a:t>01_datos/procesados/compras_presupuesto_resumen.csv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97680"/>
            <a:ext cx="4572000" cy="11887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0000"/>
                </a:solidFill>
                <a:latin typeface="Tahoma"/>
              </a:rPr>
              <a:t>03_generar_tablas_analisis.py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Genera tablas A-E y paneles analíticos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Tahoma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4480560"/>
            <a:ext cx="6217920" cy="822960"/>
          </a:xfrm>
          <a:prstGeom prst="rect">
            <a:avLst/>
          </a:prstGeom>
          <a:solidFill>
            <a:srgbClr val="0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461772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CCFF"/>
                </a:solidFill>
                <a:latin typeface="Tahoma"/>
              </a:rPr>
              <a:t>01_datos/procesados/tabla_A … tabla_E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2F69BEB-B9FC-D4C1-A88F-553D354D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LIMPIEZA Y TRANSFORMACIÓN · 3.1.5.I.2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Tabla 6. Registro auditado de reglas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02</a:t>
            </a:r>
          </a:p>
        </p:txBody>
      </p:sp>
      <p:pic>
        <p:nvPicPr>
          <p:cNvPr id="8" name="Picture 7" descr="Tabla 6. Registro de reglas de limpie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42" y="1993392"/>
            <a:ext cx="10905829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Tahoma"/>
              </a:rPr>
              <a:t>Variables derivadas: MM · MontoOC_CLP · CuartilMonto · Trimestre · EsInversion · TieneBIP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24111F5-24F6-B605-8E4B-78F9AFB5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TABLA A — REGIÓN × AÑO × MODALIDAD · 3.1.5.I.2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Nueva tabla analítica generada por notebook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03</a:t>
            </a:r>
          </a:p>
        </p:txBody>
      </p:sp>
      <p:pic>
        <p:nvPicPr>
          <p:cNvPr id="8" name="Picture 7" descr="Tabla 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12" y="1083801"/>
            <a:ext cx="6574536" cy="54036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8A1DCF0-1FF4-DB0C-45F2-217A4FB79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TABLA B — PERFIL DE PROVEEDORES · 3.1.5.I.2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03</a:t>
            </a:r>
          </a:p>
        </p:txBody>
      </p:sp>
      <p:pic>
        <p:nvPicPr>
          <p:cNvPr id="7" name="Picture 6" descr="Tabla 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696" y="1051560"/>
            <a:ext cx="5824728" cy="50982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14B1CE9-EEEA-FA0E-7347-F1BDFD10B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TABLA C — ESTACIONALIDAD MENSUAL · 3.1.5.I.2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03</a:t>
            </a:r>
          </a:p>
        </p:txBody>
      </p:sp>
      <p:pic>
        <p:nvPicPr>
          <p:cNvPr id="7" name="Picture 6" descr="Tabla 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168875"/>
            <a:ext cx="5486400" cy="52334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81D2BC-3645-3658-116E-E3B5DCF12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ahoma"/>
              </a:rPr>
              <a:t>TABLAS D y E — PROYECTOS BIP · RIESGO TRATO DIRECTO · 3.1.5.I.2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03</a:t>
            </a:r>
          </a:p>
        </p:txBody>
      </p:sp>
      <p:pic>
        <p:nvPicPr>
          <p:cNvPr id="7" name="Picture 6" descr="Tabla 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5296146"/>
          </a:xfrm>
          <a:prstGeom prst="rect">
            <a:avLst/>
          </a:prstGeom>
        </p:spPr>
      </p:pic>
      <p:pic>
        <p:nvPicPr>
          <p:cNvPr id="8" name="Picture 7" descr="Tabla 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6" y="1097697"/>
            <a:ext cx="4600271" cy="529614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0AF5541-0030-3FB0-7F3D-B7DE3EA96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4916"/>
            <a:ext cx="1874520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ALERTA: TRATO DIRECTO POR SERVICIO · 3.1.5.I.2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Umbral de riesgo: &gt;20% de OC via Trato Directo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pic>
        <p:nvPicPr>
          <p:cNvPr id="8" name="Picture 7" descr="nb03_fig2_trato_dire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45449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0000"/>
                </a:solidFill>
                <a:latin typeface="Tahoma"/>
              </a:rPr>
              <a:t>⚠ Servicios en rojo superan el umbral de fiscalización del 20%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E1C17D3-8C64-1BD6-F98B-8EF232AD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MODELACIÓN LOG-LOG · 3.1.5.I.3 (20 PTS)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Python / statsmodels con errores robustos HC1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Notebook 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ahoma"/>
              </a:rPr>
              <a:t>Modelo: log₁₀(Compras_MM) = β₀ + β₁ · log₁₀(Gasto_MM) + 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2743200" cy="2286000"/>
          </a:xfrm>
          <a:prstGeom prst="rect">
            <a:avLst/>
          </a:prstGeom>
          <a:solidFill>
            <a:srgbClr val="0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Tahoma"/>
              </a:rPr>
              <a:t>M1 Proyecto BIP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ahoma"/>
              </a:rPr>
              <a:t>β₁ = 0,527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Tahoma"/>
              </a:rPr>
              <a:t>R² = 0,212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Tahoma"/>
              </a:rPr>
              <a:t>n = 1.842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86000"/>
            <a:ext cx="2743200" cy="2286000"/>
          </a:xfrm>
          <a:prstGeom prst="rect">
            <a:avLst/>
          </a:prstGeom>
          <a:solidFill>
            <a:srgbClr val="0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Tahoma"/>
              </a:rPr>
              <a:t>M2 Región × Servicio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ahoma"/>
              </a:rPr>
              <a:t>β₁ = 0,459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Tahoma"/>
              </a:rPr>
              <a:t>R² = 0,196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Tahoma"/>
              </a:rPr>
              <a:t>n = 248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286000"/>
            <a:ext cx="2743200" cy="2286000"/>
          </a:xfrm>
          <a:prstGeom prst="rect">
            <a:avLst/>
          </a:prstGeom>
          <a:solidFill>
            <a:srgbClr val="0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Tahoma"/>
              </a:rPr>
              <a:t>M3 Región × Servicio Subt.31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ahoma"/>
              </a:rPr>
              <a:t>β₁ = 0,662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Tahoma"/>
              </a:rPr>
              <a:t>R² = 0,281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Tahoma"/>
              </a:rPr>
              <a:t>n = 186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286000"/>
            <a:ext cx="2743200" cy="2286000"/>
          </a:xfrm>
          <a:prstGeom prst="rect">
            <a:avLst/>
          </a:prstGeom>
          <a:solidFill>
            <a:srgbClr val="05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Tahoma"/>
              </a:rPr>
              <a:t>M4 Región — N° 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71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ahoma"/>
              </a:rPr>
              <a:t>β₁ = 0,566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474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Tahoma"/>
              </a:rPr>
              <a:t>R² = 0,176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840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Tahoma"/>
              </a:rPr>
              <a:t>n = 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754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E0000"/>
                </a:solidFill>
                <a:latin typeface="Tahoma"/>
              </a:rPr>
              <a:t>Todos los p-valores &lt; 0,001 · Todos β₁ &lt; 1 → relación INELÁSTICA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AAAAA"/>
                </a:solidFill>
                <a:latin typeface="Tahoma"/>
              </a:rPr>
              <a:t>Librerías: statsmodels · scipy · pandas · numpy · matplotlib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BD90EF3-73F5-CD95-9992-D5CE71F64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GRÁFICOS DE REGRESIÓN LOG-LOG · 3.1.5.I.3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Fig. 1 y 2 — Dispersión con recta de regresión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pic>
        <p:nvPicPr>
          <p:cNvPr id="8" name="Picture 7" descr="fig1_proyecto_gasto_vs_comp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3993239"/>
          </a:xfrm>
          <a:prstGeom prst="rect">
            <a:avLst/>
          </a:prstGeom>
        </p:spPr>
      </p:pic>
      <p:pic>
        <p:nvPicPr>
          <p:cNvPr id="9" name="Picture 8" descr="fig2_region_servicio_gasto_vs_compr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393084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C16C2FB-8D87-CBFC-E29D-9DC72FB95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INTERPRETACIÓN E INCERTIDUMBRE · 3.1.5.I.4 (20 PTS)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  |  Criterio 3.1.5.I.4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5760720" cy="219456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MAGNITUD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β₁ ≈ 0,55 promedio: +10% gasto → solo +5,5% compras (inelástico).
Mayor elasticidad en compras de inversión (M3: β₁ = 0,662).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760720" cy="219456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INCERTIDUMBRE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R² = 0,18–0,28: el 72–82% de la variabilidad no se explica por el
presupuesto → contratos plurianuales, concesiones, operaciones no digitalizadas.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760720" cy="219456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NO CAUSALIDAD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Modelos CORRELACIONALES. Mayor presupuesto no garantiza más
compras en Mercado Público. No hay control de variables confusoras.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39"/>
            <a:ext cx="5760720" cy="219456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7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LIMITACIONES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Solo Región de Ñuble (16) disponible como CSV. Datos 2018-2019
solamente. Cobertura 17,2% del gasto institucional total.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5942B95-25FE-653F-B734-DEE112BC3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DASHBOARD INTERACTIVO · 3.1.5.I.5 (25 PTS)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Streamlit · localhost:8501 · streamlit run 04_dashboard/dashboard_app.py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170433"/>
            <a:ext cx="9272016" cy="504428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7CCFFEF-3C11-9478-6B4D-5D92269D4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VISUALIZACIONES ANALÍTICAS · 3.1.5.I.5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Fig. 8: Heatmap Región × Mes · Fig. 9: Servicios 2018 vs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pic>
        <p:nvPicPr>
          <p:cNvPr id="8" name="Picture 7" descr="nb05_fig2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852160" cy="3509814"/>
          </a:xfrm>
          <a:prstGeom prst="rect">
            <a:avLst/>
          </a:prstGeom>
        </p:spPr>
      </p:pic>
      <p:pic>
        <p:nvPicPr>
          <p:cNvPr id="9" name="Picture 8" descr="nb05_fig3_serv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760720" cy="281384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AAC51F0-1599-5649-E09B-56DD5FD1F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RECOMENDACIONES ESTRATÉGICAS · 3.1.5.I.4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Tahoma"/>
              </a:rPr>
              <a:t>Accionables para directivos MOP y Contraloría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64008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463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280160"/>
            <a:ext cx="10789920" cy="100584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325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&gt;20% Trato Directo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Auditar adquisiciones en servicios con uso anómalo de contratación directa (véase Tabla 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64008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560320"/>
            <a:ext cx="10789920" cy="100584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60603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Concentración Q4 = 36,6%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6323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Implementar planificación anual de compras con metas trimestrales para distribuir el gasto.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79"/>
            <a:ext cx="64008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40233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40479"/>
            <a:ext cx="10789920" cy="100584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388619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Trazabilidad BIP = 17,2%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4339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Exigir código BIP en todas las OC vinculadas a proyectos de inversión del MOP.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20640"/>
            <a:ext cx="640080" cy="10058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5120640"/>
            <a:ext cx="10789920" cy="100584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516635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Proveedores concentrados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62355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Revisar política de diversificación; algunos servicios dependen de 1-2 proveedores.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559ADAD-4B2F-51E3-1409-AB392105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CONCLUSIONES Y ESTRUCTURA DE ENTREGA · 3.1.5.I.6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55624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Tahoma"/>
              </a:rPr>
              <a:t>INACAP · Minería de Datos · Octubre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5212080"/>
          </a:xfrm>
          <a:prstGeom prst="rect">
            <a:avLst/>
          </a:prstGeom>
          <a:solidFill>
            <a:srgbClr val="05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CONCLUSIÓN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Tahoma"/>
              </a:rPr>
              <a:t>Relación positiva e inelástica confirmada (β₁ ≈ 0,55).
El 17,2% del gasto MOP tiene trazabilidad digital completa → amplio margen de mejora.
Alertas accionables: Trato Directo elevado, concentración Q4, baja cobertura BIP.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69280" cy="52120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E0000"/>
                </a:solidFill>
                <a:latin typeface="Tahoma"/>
              </a:rPr>
              <a:t>ESTRUCTURA ENTREGA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01_datos/  — originales + procesados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02_pipeline/  — 3 scripts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03_notebooks/  — 5 notebooks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04_dashboard/  — app Streamlit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05_figuras/  — 31 gráficos + capturas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3949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Tahoma"/>
              </a:rPr>
              <a:t>06_doc/  — informe PDF + PPTX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C4A3FF2-CD13-AD98-815E-D5E5795A6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00" y="4916"/>
            <a:ext cx="2051952" cy="566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979</Words>
  <Application>Microsoft Office PowerPoint</Application>
  <PresentationFormat>Personalizado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Joseph Rivera</dc:creator>
  <cp:keywords/>
  <dc:description>generated using python-pptx</dc:description>
  <cp:lastModifiedBy>JOSE ELIECER RIVERA PEREZ</cp:lastModifiedBy>
  <cp:revision>5</cp:revision>
  <dcterms:created xsi:type="dcterms:W3CDTF">2013-01-27T09:14:16Z</dcterms:created>
  <dcterms:modified xsi:type="dcterms:W3CDTF">2026-10-13T00:30:46Z</dcterms:modified>
  <cp:category/>
</cp:coreProperties>
</file>